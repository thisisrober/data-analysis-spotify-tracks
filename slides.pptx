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elios Extended Bold" charset="1" panose="02000805050000020004"/>
      <p:regular r:id="rId23"/>
    </p:embeddedFont>
    <p:embeddedFont>
      <p:font typeface="Helios Extended" charset="1" panose="02000505040000020004"/>
      <p:regular r:id="rId24"/>
    </p:embeddedFont>
    <p:embeddedFont>
      <p:font typeface="Holiday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16573" y="-608167"/>
            <a:ext cx="3668976" cy="11503335"/>
            <a:chOff x="0" y="0"/>
            <a:chExt cx="1068490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490" cy="3350036"/>
            </a:xfrm>
            <a:custGeom>
              <a:avLst/>
              <a:gdLst/>
              <a:ahLst/>
              <a:cxnLst/>
              <a:rect r="r" b="b" t="t" l="l"/>
              <a:pathLst>
                <a:path h="3350036" w="1068490">
                  <a:moveTo>
                    <a:pt x="0" y="0"/>
                  </a:moveTo>
                  <a:lnTo>
                    <a:pt x="1068490" y="0"/>
                  </a:lnTo>
                  <a:lnTo>
                    <a:pt x="1068490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68490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147823" y="2132118"/>
            <a:ext cx="6206476" cy="6022764"/>
            <a:chOff x="0" y="0"/>
            <a:chExt cx="6350000" cy="616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0" y="43180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5486400" y="0"/>
                  </a:moveTo>
                  <a:lnTo>
                    <a:pt x="5486400" y="5298440"/>
                  </a:lnTo>
                  <a:lnTo>
                    <a:pt x="0" y="529844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solidFill>
              <a:srgbClr val="9E969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431800" y="0"/>
                  </a:moveTo>
                  <a:lnTo>
                    <a:pt x="0" y="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blipFill>
              <a:blip r:embed="rId2"/>
              <a:stretch>
                <a:fillRect l="-22690" t="0" r="-2269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04775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7" y="0"/>
                </a:lnTo>
                <a:lnTo>
                  <a:pt x="2816747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250" y="8630225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7" y="0"/>
                </a:lnTo>
                <a:lnTo>
                  <a:pt x="2816747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886232"/>
            <a:ext cx="9779164" cy="232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8"/>
              </a:lnSpc>
            </a:pPr>
            <a:r>
              <a:rPr lang="en-US" b="true" sz="5264" spc="-20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¿QUE HACE POPULAR A UNA CANCION  EN SPOTIFY?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293873"/>
            <a:ext cx="6466458" cy="35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PRESENTACIÓN DE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8058" y="6550886"/>
            <a:ext cx="6466458" cy="33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163" spc="-84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Presentado por Robert Lita Jeler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31515"/>
            <a:ext cx="9779164" cy="129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7"/>
              </a:lnSpc>
            </a:pPr>
            <a:r>
              <a:rPr lang="en-US" b="true" sz="8564" spc="-33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AGENDA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4018179"/>
          <a:ext cx="7860560" cy="4713161"/>
        </p:xfrm>
        <a:graphic>
          <a:graphicData uri="http://schemas.openxmlformats.org/drawingml/2006/table">
            <a:tbl>
              <a:tblPr/>
              <a:tblGrid>
                <a:gridCol w="719115"/>
                <a:gridCol w="3798419"/>
              </a:tblGrid>
              <a:tr h="11782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3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El problema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82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4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El dataset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82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5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Análisis explotatorio (EDA)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82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6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Modelado: Regresión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9398740" y="4018179"/>
          <a:ext cx="7860560" cy="2282901"/>
        </p:xfrm>
        <a:graphic>
          <a:graphicData uri="http://schemas.openxmlformats.org/drawingml/2006/table">
            <a:tbl>
              <a:tblPr/>
              <a:tblGrid>
                <a:gridCol w="719115"/>
                <a:gridCol w="3798419"/>
              </a:tblGrid>
              <a:tr h="1141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7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Modelado: Clasificación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1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45"/>
                        </a:lnSpc>
                        <a:defRPr/>
                      </a:pPr>
                      <a:r>
                        <a:rPr lang="en-US" sz="2247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8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5"/>
                        </a:lnSpc>
                        <a:defRPr/>
                      </a:pPr>
                      <a:r>
                        <a:rPr lang="en-US" sz="2247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Conclusiones</a:t>
                      </a:r>
                      <a:endParaRPr lang="en-US" sz="1100"/>
                    </a:p>
                  </a:txBody>
                  <a:tcPr marL="196643" marR="196643" marT="196643" marB="196643" anchor="ctr">
                    <a:lnL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4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true" flipV="true" rot="5400000">
            <a:off x="15217047" y="51493"/>
            <a:ext cx="1065046" cy="3019461"/>
          </a:xfrm>
          <a:custGeom>
            <a:avLst/>
            <a:gdLst/>
            <a:ahLst/>
            <a:cxnLst/>
            <a:rect r="r" b="b" t="t" l="l"/>
            <a:pathLst>
              <a:path h="3019461" w="1065046">
                <a:moveTo>
                  <a:pt x="1065046" y="3019460"/>
                </a:moveTo>
                <a:lnTo>
                  <a:pt x="0" y="3019460"/>
                </a:lnTo>
                <a:lnTo>
                  <a:pt x="0" y="0"/>
                </a:lnTo>
                <a:lnTo>
                  <a:pt x="1065046" y="0"/>
                </a:lnTo>
                <a:lnTo>
                  <a:pt x="1065046" y="30194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681192" y="-824694"/>
            <a:ext cx="22159865" cy="1226633"/>
            <a:chOff x="0" y="0"/>
            <a:chExt cx="6453464" cy="3572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935932" y="9873431"/>
            <a:ext cx="22159865" cy="1226633"/>
            <a:chOff x="0" y="0"/>
            <a:chExt cx="6453464" cy="3572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5742" y="-608167"/>
            <a:ext cx="3668976" cy="11503335"/>
            <a:chOff x="0" y="0"/>
            <a:chExt cx="1068490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490" cy="3350036"/>
            </a:xfrm>
            <a:custGeom>
              <a:avLst/>
              <a:gdLst/>
              <a:ahLst/>
              <a:cxnLst/>
              <a:rect r="r" b="b" t="t" l="l"/>
              <a:pathLst>
                <a:path h="3350036" w="1068490">
                  <a:moveTo>
                    <a:pt x="0" y="0"/>
                  </a:moveTo>
                  <a:lnTo>
                    <a:pt x="1068490" y="0"/>
                  </a:lnTo>
                  <a:lnTo>
                    <a:pt x="1068490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68490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06992" y="2132118"/>
            <a:ext cx="6206476" cy="6022764"/>
            <a:chOff x="0" y="0"/>
            <a:chExt cx="6350000" cy="616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0" y="43180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5486400" y="0"/>
                  </a:moveTo>
                  <a:lnTo>
                    <a:pt x="5486400" y="5298440"/>
                  </a:lnTo>
                  <a:lnTo>
                    <a:pt x="0" y="529844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431800" y="0"/>
                  </a:moveTo>
                  <a:lnTo>
                    <a:pt x="0" y="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blipFill>
              <a:blip r:embed="rId2"/>
              <a:stretch>
                <a:fillRect l="-36065" t="0" r="-36065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5258547" y="-137207"/>
            <a:ext cx="834847" cy="3166660"/>
          </a:xfrm>
          <a:custGeom>
            <a:avLst/>
            <a:gdLst/>
            <a:ahLst/>
            <a:cxnLst/>
            <a:rect r="r" b="b" t="t" l="l"/>
            <a:pathLst>
              <a:path h="3166660" w="834847">
                <a:moveTo>
                  <a:pt x="0" y="0"/>
                </a:moveTo>
                <a:lnTo>
                  <a:pt x="834846" y="0"/>
                </a:lnTo>
                <a:lnTo>
                  <a:pt x="834846" y="3166660"/>
                </a:lnTo>
                <a:lnTo>
                  <a:pt x="0" y="3166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73443" y="2286174"/>
            <a:ext cx="9081080" cy="453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7"/>
              </a:lnSpc>
            </a:pPr>
            <a:r>
              <a:rPr lang="en-US" b="true" sz="7829" spc="-30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EL PROBLEMA - ¿QUE QUEREMOS SABER?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73443" y="6786073"/>
            <a:ext cx="9862464" cy="263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¿Pueden los datos de audio de Spotify predecir el éxito de una canción?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Tarea 1: regresión (predecir la puntuación de popularidad entre 0-100)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Tarea 2: clasificación (detectar si una canción será “hit”)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8222" y="104771"/>
            <a:ext cx="9987547" cy="10596080"/>
            <a:chOff x="0" y="0"/>
            <a:chExt cx="2908604" cy="308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8604" cy="3085823"/>
            </a:xfrm>
            <a:custGeom>
              <a:avLst/>
              <a:gdLst/>
              <a:ahLst/>
              <a:cxnLst/>
              <a:rect r="r" b="b" t="t" l="l"/>
              <a:pathLst>
                <a:path h="3085823" w="2908604">
                  <a:moveTo>
                    <a:pt x="0" y="0"/>
                  </a:moveTo>
                  <a:lnTo>
                    <a:pt x="2908604" y="0"/>
                  </a:lnTo>
                  <a:lnTo>
                    <a:pt x="2908604" y="3085823"/>
                  </a:lnTo>
                  <a:lnTo>
                    <a:pt x="0" y="308582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908604" cy="314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0271" y="8376754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8" y="0"/>
                </a:lnTo>
                <a:lnTo>
                  <a:pt x="2816748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82070" y="104771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7" y="0"/>
                </a:lnTo>
                <a:lnTo>
                  <a:pt x="2816747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588626" y="3529473"/>
          <a:ext cx="9200462" cy="4114800"/>
        </p:xfrm>
        <a:graphic>
          <a:graphicData uri="http://schemas.openxmlformats.org/drawingml/2006/table">
            <a:tbl>
              <a:tblPr/>
              <a:tblGrid>
                <a:gridCol w="4600231"/>
                <a:gridCol w="4600231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Metadatos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Características de audio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Nombre, artista, álbum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danceability, energy, loudness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Género musical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instrumentalness, acousticness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Popularidad (0-100)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tempo, valence, speechiness...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552948" y="3468794"/>
            <a:ext cx="7933246" cy="119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7"/>
              </a:lnSpc>
            </a:pPr>
            <a:r>
              <a:rPr lang="en-US" b="true" sz="7829" spc="-30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EL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5380" y="4702805"/>
            <a:ext cx="7933246" cy="210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3 bloques destacados: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114.000 pistas originales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~89.740 pistas únicas (tras limpieza)</a:t>
            </a:r>
          </a:p>
          <a:p>
            <a:pPr algn="l" marL="510352" indent="-255176" lvl="1">
              <a:lnSpc>
                <a:spcPts val="4254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20 variables por pista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81192" y="-824694"/>
            <a:ext cx="22159865" cy="4643228"/>
            <a:chOff x="0" y="0"/>
            <a:chExt cx="6453464" cy="1352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3464" cy="1352215"/>
            </a:xfrm>
            <a:custGeom>
              <a:avLst/>
              <a:gdLst/>
              <a:ahLst/>
              <a:cxnLst/>
              <a:rect r="r" b="b" t="t" l="l"/>
              <a:pathLst>
                <a:path h="1352215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1352215"/>
                  </a:lnTo>
                  <a:lnTo>
                    <a:pt x="0" y="135221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53464" cy="140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3841" y="4558257"/>
            <a:ext cx="3065323" cy="1585307"/>
            <a:chOff x="0" y="0"/>
            <a:chExt cx="1002299" cy="5183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7221" y="894634"/>
            <a:ext cx="17854518" cy="230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7"/>
              </a:lnSpc>
            </a:pPr>
            <a:r>
              <a:rPr lang="en-US" b="true" sz="7829" spc="-30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¿QUE MIDEN LAS CARACTERISTICAS DE AUDIO?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393" y="4695507"/>
            <a:ext cx="2394220" cy="44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Acousticness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184065" y="4558257"/>
            <a:ext cx="3065323" cy="1585307"/>
            <a:chOff x="0" y="0"/>
            <a:chExt cx="1002299" cy="5183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521794" y="4695507"/>
            <a:ext cx="2394220" cy="44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Danceability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11338" y="4555529"/>
            <a:ext cx="3065323" cy="1585307"/>
            <a:chOff x="0" y="0"/>
            <a:chExt cx="1002299" cy="5183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952018" y="4695507"/>
            <a:ext cx="2394220" cy="44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Energy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041563" y="4555529"/>
            <a:ext cx="3065323" cy="1585307"/>
            <a:chOff x="0" y="0"/>
            <a:chExt cx="1002299" cy="5183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381512" y="4710100"/>
            <a:ext cx="2394220" cy="41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9"/>
              </a:lnSpc>
            </a:pPr>
            <a:r>
              <a:rPr lang="en-US" b="true" sz="1905" spc="-7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Instrumentalness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468836" y="4558257"/>
            <a:ext cx="3065323" cy="1585307"/>
            <a:chOff x="0" y="0"/>
            <a:chExt cx="1002299" cy="5183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804388" y="4694497"/>
            <a:ext cx="2394220" cy="44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Loudness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467957" y="6522802"/>
            <a:ext cx="3065323" cy="1585307"/>
            <a:chOff x="0" y="0"/>
            <a:chExt cx="1002299" cy="5183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803509" y="6621212"/>
            <a:ext cx="2394220" cy="44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Speechiness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898182" y="6522802"/>
            <a:ext cx="3065323" cy="1585307"/>
            <a:chOff x="0" y="0"/>
            <a:chExt cx="1002299" cy="5183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226385" y="6587986"/>
            <a:ext cx="2394220" cy="44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Valence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25455" y="6520075"/>
            <a:ext cx="3065323" cy="1585307"/>
            <a:chOff x="0" y="0"/>
            <a:chExt cx="1002299" cy="5183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661007" y="6587986"/>
            <a:ext cx="2394220" cy="44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9"/>
              </a:lnSpc>
            </a:pPr>
            <a:r>
              <a:rPr lang="en-US" b="true" sz="2105" spc="-8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Tempo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755679" y="6520075"/>
            <a:ext cx="3065323" cy="1585307"/>
            <a:chOff x="0" y="0"/>
            <a:chExt cx="1002299" cy="5183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2299" cy="518363"/>
            </a:xfrm>
            <a:custGeom>
              <a:avLst/>
              <a:gdLst/>
              <a:ahLst/>
              <a:cxnLst/>
              <a:rect r="r" b="b" t="t" l="l"/>
              <a:pathLst>
                <a:path h="518363" w="1002299">
                  <a:moveTo>
                    <a:pt x="0" y="0"/>
                  </a:moveTo>
                  <a:lnTo>
                    <a:pt x="1002299" y="0"/>
                  </a:lnTo>
                  <a:lnTo>
                    <a:pt x="1002299" y="518363"/>
                  </a:lnTo>
                  <a:lnTo>
                    <a:pt x="0" y="518363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02299" cy="575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095628" y="6603589"/>
            <a:ext cx="2394220" cy="41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9"/>
              </a:lnSpc>
            </a:pPr>
            <a:r>
              <a:rPr lang="en-US" b="true" sz="1905" spc="-74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Helios Extended Bold"/>
                <a:ea typeface="Helios Extended Bold"/>
                <a:cs typeface="Helios Extended Bold"/>
                <a:sym typeface="Helios Extended Bold"/>
              </a:rPr>
              <a:t>Popularity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9393" y="5265629"/>
            <a:ext cx="2394220" cy="59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¿Es acústica la canción? (0-1)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18141" y="5265629"/>
            <a:ext cx="2394220" cy="59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¿Qué tan bailable es? (0-1)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54238" y="5265629"/>
            <a:ext cx="2394220" cy="59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Intensidad y actividad (0-1)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381512" y="5265629"/>
            <a:ext cx="2394220" cy="30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¿Sin voz? (0-1)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02211" y="5280335"/>
            <a:ext cx="2394220" cy="30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Volumen en dB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803509" y="7193030"/>
            <a:ext cx="2394220" cy="59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Presencia de voz hablada (0-1)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233733" y="7193030"/>
            <a:ext cx="2394220" cy="59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Positividad musical (0-1)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68355" y="7193030"/>
            <a:ext cx="2394220" cy="30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BPM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95628" y="7207736"/>
            <a:ext cx="2394220" cy="59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2105" spc="-8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Puntuación Spotify (0-100)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630" y="-608167"/>
            <a:ext cx="10245332" cy="11503335"/>
            <a:chOff x="0" y="0"/>
            <a:chExt cx="2983677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3677" cy="3350036"/>
            </a:xfrm>
            <a:custGeom>
              <a:avLst/>
              <a:gdLst/>
              <a:ahLst/>
              <a:cxnLst/>
              <a:rect r="r" b="b" t="t" l="l"/>
              <a:pathLst>
                <a:path h="3350036" w="2983677">
                  <a:moveTo>
                    <a:pt x="0" y="0"/>
                  </a:moveTo>
                  <a:lnTo>
                    <a:pt x="2983677" y="0"/>
                  </a:lnTo>
                  <a:lnTo>
                    <a:pt x="2983677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983677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78316" y="1199404"/>
            <a:ext cx="6926218" cy="7888193"/>
          </a:xfrm>
          <a:custGeom>
            <a:avLst/>
            <a:gdLst/>
            <a:ahLst/>
            <a:cxnLst/>
            <a:rect r="r" b="b" t="t" l="l"/>
            <a:pathLst>
              <a:path h="7888193" w="6926218">
                <a:moveTo>
                  <a:pt x="0" y="0"/>
                </a:moveTo>
                <a:lnTo>
                  <a:pt x="6926218" y="0"/>
                </a:lnTo>
                <a:lnTo>
                  <a:pt x="6926218" y="7888192"/>
                </a:lnTo>
                <a:lnTo>
                  <a:pt x="0" y="7888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352892"/>
            <a:ext cx="7371306" cy="242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8"/>
              </a:lnSpc>
            </a:pPr>
            <a:r>
              <a:rPr lang="en-US" b="true" sz="5530" spc="-21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LIMPIEZA - EL PROBLEMA DE LOS DUPLICADOS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94782"/>
            <a:ext cx="7056619" cy="182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352" indent="-255176" lvl="1">
              <a:lnSpc>
                <a:spcPts val="2860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Dataset original: 113.999 filas (1 fila menos por 3 nulos en una fila)</a:t>
            </a:r>
          </a:p>
          <a:p>
            <a:pPr algn="l" marL="510352" indent="-255176" lvl="1">
              <a:lnSpc>
                <a:spcPts val="2860"/>
              </a:lnSpc>
              <a:buFont typeface="Arial"/>
              <a:buChar char="•"/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Un mismo track aparecía hasta 9 veces en diferentes géneros. Necesitamos 1 fila por canción.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70714" y="4648187"/>
            <a:ext cx="3879784" cy="3616763"/>
            <a:chOff x="0" y="0"/>
            <a:chExt cx="1129882" cy="1053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9882" cy="1053285"/>
            </a:xfrm>
            <a:custGeom>
              <a:avLst/>
              <a:gdLst/>
              <a:ahLst/>
              <a:cxnLst/>
              <a:rect r="r" b="b" t="t" l="l"/>
              <a:pathLst>
                <a:path h="1053285" w="1129882">
                  <a:moveTo>
                    <a:pt x="0" y="0"/>
                  </a:moveTo>
                  <a:lnTo>
                    <a:pt x="1129882" y="0"/>
                  </a:lnTo>
                  <a:lnTo>
                    <a:pt x="1129882" y="1053285"/>
                  </a:lnTo>
                  <a:lnTo>
                    <a:pt x="0" y="105328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129882" cy="1110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01907" y="4114604"/>
            <a:ext cx="12469566" cy="5143696"/>
          </a:xfrm>
          <a:custGeom>
            <a:avLst/>
            <a:gdLst/>
            <a:ahLst/>
            <a:cxnLst/>
            <a:rect r="r" b="b" t="t" l="l"/>
            <a:pathLst>
              <a:path h="5143696" w="12469566">
                <a:moveTo>
                  <a:pt x="0" y="0"/>
                </a:moveTo>
                <a:lnTo>
                  <a:pt x="12469566" y="0"/>
                </a:lnTo>
                <a:lnTo>
                  <a:pt x="12469566" y="5143696"/>
                </a:lnTo>
                <a:lnTo>
                  <a:pt x="0" y="5143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6626" y="935348"/>
            <a:ext cx="14274748" cy="215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08"/>
              </a:lnSpc>
            </a:pPr>
            <a:r>
              <a:rPr lang="en-US" b="true" sz="7264" spc="-283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¿COMO SE DISTRIBUYE LA POPULARIDAD?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95960" y="5257800"/>
            <a:ext cx="2755996" cy="6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385" spc="-93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Media y mediana ≈ 33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95960" y="6112591"/>
            <a:ext cx="2755996" cy="6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385" spc="-93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10,5% popularidad =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95960" y="6971995"/>
            <a:ext cx="2755996" cy="6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2385" spc="-93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~3% supera popularidad 70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83335" y="3085904"/>
            <a:ext cx="10321331" cy="6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5"/>
              </a:lnSpc>
            </a:pPr>
            <a:r>
              <a:rPr lang="en-US" sz="2385" spc="-93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La mayoría de canciones tienen popularidad baja-moderada. Los hits son escasos.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81192" y="-824694"/>
            <a:ext cx="22159865" cy="1226633"/>
            <a:chOff x="0" y="0"/>
            <a:chExt cx="6453464" cy="3572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35932" y="9873431"/>
            <a:ext cx="22159865" cy="1226633"/>
            <a:chOff x="0" y="0"/>
            <a:chExt cx="6453464" cy="357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733551" y="3581336"/>
            <a:ext cx="12403737" cy="6155355"/>
          </a:xfrm>
          <a:custGeom>
            <a:avLst/>
            <a:gdLst/>
            <a:ahLst/>
            <a:cxnLst/>
            <a:rect r="r" b="b" t="t" l="l"/>
            <a:pathLst>
              <a:path h="6155355" w="12403737">
                <a:moveTo>
                  <a:pt x="0" y="0"/>
                </a:moveTo>
                <a:lnTo>
                  <a:pt x="12403738" y="0"/>
                </a:lnTo>
                <a:lnTo>
                  <a:pt x="12403738" y="6155355"/>
                </a:lnTo>
                <a:lnTo>
                  <a:pt x="0" y="615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38225"/>
            <a:ext cx="15513576" cy="254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7"/>
              </a:lnSpc>
            </a:pPr>
            <a:r>
              <a:rPr lang="en-US" b="true" sz="8564" spc="-33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EL GENERO IMPORTA... Y MUCHO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81192" y="-824694"/>
            <a:ext cx="22159865" cy="4643228"/>
            <a:chOff x="0" y="0"/>
            <a:chExt cx="6453464" cy="1352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3464" cy="1352215"/>
            </a:xfrm>
            <a:custGeom>
              <a:avLst/>
              <a:gdLst/>
              <a:ahLst/>
              <a:cxnLst/>
              <a:rect r="r" b="b" t="t" l="l"/>
              <a:pathLst>
                <a:path h="1352215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1352215"/>
                  </a:lnTo>
                  <a:lnTo>
                    <a:pt x="0" y="135221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53464" cy="140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-10800000">
            <a:off x="223816" y="7067626"/>
            <a:ext cx="1065046" cy="3019461"/>
          </a:xfrm>
          <a:custGeom>
            <a:avLst/>
            <a:gdLst/>
            <a:ahLst/>
            <a:cxnLst/>
            <a:rect r="r" b="b" t="t" l="l"/>
            <a:pathLst>
              <a:path h="3019461" w="1065046">
                <a:moveTo>
                  <a:pt x="1065046" y="3019460"/>
                </a:moveTo>
                <a:lnTo>
                  <a:pt x="0" y="3019460"/>
                </a:lnTo>
                <a:lnTo>
                  <a:pt x="0" y="0"/>
                </a:lnTo>
                <a:lnTo>
                  <a:pt x="1065046" y="0"/>
                </a:lnTo>
                <a:lnTo>
                  <a:pt x="1065046" y="30194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1334249" y="5219700"/>
          <a:ext cx="5925051" cy="4276725"/>
        </p:xfrm>
        <a:graphic>
          <a:graphicData uri="http://schemas.openxmlformats.org/drawingml/2006/table">
            <a:tbl>
              <a:tblPr/>
              <a:tblGrid>
                <a:gridCol w="2955162"/>
                <a:gridCol w="2969890"/>
              </a:tblGrid>
              <a:tr h="1191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7"/>
                        </a:lnSpc>
                        <a:defRPr/>
                      </a:pPr>
                      <a:r>
                        <a:rPr lang="en-US" sz="2105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Variable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7"/>
                        </a:lnSpc>
                        <a:defRPr/>
                      </a:pPr>
                      <a:r>
                        <a:rPr lang="en-US" sz="2105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Correlación con popularidad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028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7"/>
                        </a:lnSpc>
                        <a:defRPr/>
                      </a:pPr>
                      <a:r>
                        <a:rPr lang="en-US" sz="2105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Instrumentalness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7"/>
                        </a:lnSpc>
                        <a:defRPr/>
                      </a:pPr>
                      <a:r>
                        <a:rPr lang="en-US" sz="2105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r ≈ −0.13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7"/>
                        </a:lnSpc>
                        <a:defRPr/>
                      </a:pPr>
                      <a:r>
                        <a:rPr lang="en-US" sz="2105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Loudness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7"/>
                        </a:lnSpc>
                        <a:defRPr/>
                      </a:pPr>
                      <a:r>
                        <a:rPr lang="en-US" sz="2105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r ≈ +0.07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3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7"/>
                        </a:lnSpc>
                        <a:defRPr/>
                      </a:pPr>
                      <a:r>
                        <a:rPr lang="en-US" sz="2105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Danceability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7"/>
                        </a:lnSpc>
                        <a:defRPr/>
                      </a:pPr>
                      <a:r>
                        <a:rPr lang="en-US" sz="2105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r ≈ +0.06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822234" y="3934196"/>
            <a:ext cx="8643943" cy="6266859"/>
          </a:xfrm>
          <a:custGeom>
            <a:avLst/>
            <a:gdLst/>
            <a:ahLst/>
            <a:cxnLst/>
            <a:rect r="r" b="b" t="t" l="l"/>
            <a:pathLst>
              <a:path h="6266859" w="8643943">
                <a:moveTo>
                  <a:pt x="0" y="0"/>
                </a:moveTo>
                <a:lnTo>
                  <a:pt x="8643943" y="0"/>
                </a:lnTo>
                <a:lnTo>
                  <a:pt x="8643943" y="6266859"/>
                </a:lnTo>
                <a:lnTo>
                  <a:pt x="0" y="626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28700"/>
            <a:ext cx="16230600" cy="18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b="true" sz="6430" spc="-250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¿QUE VARIABLES SE RELACIONAN CON LA POPULARIDAD?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23784" y="4024199"/>
            <a:ext cx="6545980" cy="10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5"/>
              </a:lnSpc>
            </a:pPr>
            <a:r>
              <a:rPr lang="en-US" sz="2385" spc="-93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Las correlaciones lineales son débiles. La popularidad es un fenómeno multifactoral. Necesitamos ML.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81192" y="-824694"/>
            <a:ext cx="22159865" cy="1226633"/>
            <a:chOff x="0" y="0"/>
            <a:chExt cx="6453464" cy="3572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35932" y="9873431"/>
            <a:ext cx="22159865" cy="1226633"/>
            <a:chOff x="0" y="0"/>
            <a:chExt cx="6453464" cy="357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859751" y="3581821"/>
          <a:ext cx="12568499" cy="2077288"/>
        </p:xfrm>
        <a:graphic>
          <a:graphicData uri="http://schemas.openxmlformats.org/drawingml/2006/table">
            <a:tbl>
              <a:tblPr/>
              <a:tblGrid>
                <a:gridCol w="2513700"/>
                <a:gridCol w="2513700"/>
                <a:gridCol w="2513700"/>
                <a:gridCol w="2513700"/>
                <a:gridCol w="2513700"/>
              </a:tblGrid>
              <a:tr h="7762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P50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P70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P90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P80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P75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</a:tr>
              <a:tr h="13010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BF63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49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B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2309100" y="1038225"/>
            <a:ext cx="13669800" cy="130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7"/>
              </a:lnSpc>
            </a:pPr>
            <a:r>
              <a:rPr lang="en-US" b="true" sz="8564" spc="-33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DEFINIENDO UN “HIT”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9751" y="2776563"/>
            <a:ext cx="12568499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Popularidad &gt; 49 = HIT (1) / &lt; 49 = HIT (0)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3481" y="5763884"/>
            <a:ext cx="14661038" cy="120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P75 = umbral óptimo: selectivo pero sin desbalanceo extremo (ratio 3:1)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1074" y="7506324"/>
            <a:ext cx="8485851" cy="120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🟢 No Hit: 75.4% (68.531 pistas)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🔴 Hit: 23.6% (21.209 pistas)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4680" y="3749116"/>
            <a:ext cx="14798641" cy="5216521"/>
          </a:xfrm>
          <a:custGeom>
            <a:avLst/>
            <a:gdLst/>
            <a:ahLst/>
            <a:cxnLst/>
            <a:rect r="r" b="b" t="t" l="l"/>
            <a:pathLst>
              <a:path h="5216521" w="14798641">
                <a:moveTo>
                  <a:pt x="0" y="0"/>
                </a:moveTo>
                <a:lnTo>
                  <a:pt x="14798640" y="0"/>
                </a:lnTo>
                <a:lnTo>
                  <a:pt x="14798640" y="5216521"/>
                </a:lnTo>
                <a:lnTo>
                  <a:pt x="0" y="5216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273204" cy="163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8"/>
              </a:lnSpc>
            </a:pPr>
            <a:r>
              <a:rPr lang="en-US" b="true" sz="5530" spc="-21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REGRESION - PREDICIENDO LA POPULARIDAD EXACTA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06612"/>
            <a:ext cx="7056619" cy="103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Los modelos ensemble mejoran x6 respecto a la regresión lineal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-10800000">
            <a:off x="223816" y="7067626"/>
            <a:ext cx="1065046" cy="3019461"/>
          </a:xfrm>
          <a:custGeom>
            <a:avLst/>
            <a:gdLst/>
            <a:ahLst/>
            <a:cxnLst/>
            <a:rect r="r" b="b" t="t" l="l"/>
            <a:pathLst>
              <a:path h="3019461" w="1065046">
                <a:moveTo>
                  <a:pt x="1065046" y="3019460"/>
                </a:moveTo>
                <a:lnTo>
                  <a:pt x="0" y="3019460"/>
                </a:lnTo>
                <a:lnTo>
                  <a:pt x="0" y="0"/>
                </a:lnTo>
                <a:lnTo>
                  <a:pt x="1065046" y="0"/>
                </a:lnTo>
                <a:lnTo>
                  <a:pt x="1065046" y="301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12821" y="0"/>
            <a:ext cx="20713641" cy="2240555"/>
            <a:chOff x="0" y="0"/>
            <a:chExt cx="6032290" cy="652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32290" cy="652501"/>
            </a:xfrm>
            <a:custGeom>
              <a:avLst/>
              <a:gdLst/>
              <a:ahLst/>
              <a:cxnLst/>
              <a:rect r="r" b="b" t="t" l="l"/>
              <a:pathLst>
                <a:path h="652501" w="6032290">
                  <a:moveTo>
                    <a:pt x="0" y="0"/>
                  </a:moveTo>
                  <a:lnTo>
                    <a:pt x="6032290" y="0"/>
                  </a:lnTo>
                  <a:lnTo>
                    <a:pt x="6032290" y="652501"/>
                  </a:lnTo>
                  <a:lnTo>
                    <a:pt x="0" y="6525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032290" cy="709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171348" y="8764521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7" y="0"/>
                </a:lnTo>
                <a:lnTo>
                  <a:pt x="2816747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89324" y="164977"/>
            <a:ext cx="2816747" cy="1541529"/>
          </a:xfrm>
          <a:custGeom>
            <a:avLst/>
            <a:gdLst/>
            <a:ahLst/>
            <a:cxnLst/>
            <a:rect r="r" b="b" t="t" l="l"/>
            <a:pathLst>
              <a:path h="1541529" w="2816747">
                <a:moveTo>
                  <a:pt x="0" y="0"/>
                </a:moveTo>
                <a:lnTo>
                  <a:pt x="2816748" y="0"/>
                </a:lnTo>
                <a:lnTo>
                  <a:pt x="2816748" y="1541529"/>
                </a:lnTo>
                <a:lnTo>
                  <a:pt x="0" y="1541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57714" y="3198647"/>
          <a:ext cx="16572571" cy="4784867"/>
        </p:xfrm>
        <a:graphic>
          <a:graphicData uri="http://schemas.openxmlformats.org/drawingml/2006/table">
            <a:tbl>
              <a:tblPr/>
              <a:tblGrid>
                <a:gridCol w="3314514"/>
                <a:gridCol w="3314514"/>
                <a:gridCol w="3314514"/>
                <a:gridCol w="3314514"/>
                <a:gridCol w="3314514"/>
              </a:tblGrid>
              <a:tr h="9137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Modelo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Precision (Hit)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Recall (Hit)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Helios Extended Bold"/>
                          <a:ea typeface="Helios Extended Bold"/>
                          <a:cs typeface="Helios Extended Bold"/>
                          <a:sym typeface="Helios Extended Bold"/>
                        </a:rPr>
                        <a:t>F1 (Hit)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9629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Reg. Logística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77%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0.43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4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76%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68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Gradient Boosting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76%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68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KNN (k=7)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75%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 Extended"/>
                          <a:ea typeface="Helios Extended"/>
                          <a:cs typeface="Helios Extended"/>
                          <a:sym typeface="Helios Extended"/>
                        </a:rPr>
                        <a:t>0.26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5506623" y="388994"/>
            <a:ext cx="7274755" cy="136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1"/>
              </a:lnSpc>
            </a:pPr>
            <a:r>
              <a:rPr lang="en-US" b="true" sz="4630" spc="-180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CLASIFICACION: DETECTANDO “HITS”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7112" y="8435483"/>
            <a:ext cx="12953776" cy="505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⚠️ Accuracy engaña: el modelo con menor accuracy es el MEJOR para detectar hits.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5742" y="-608167"/>
            <a:ext cx="3668976" cy="11503335"/>
            <a:chOff x="0" y="0"/>
            <a:chExt cx="1068490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490" cy="3350036"/>
            </a:xfrm>
            <a:custGeom>
              <a:avLst/>
              <a:gdLst/>
              <a:ahLst/>
              <a:cxnLst/>
              <a:rect r="r" b="b" t="t" l="l"/>
              <a:pathLst>
                <a:path h="3350036" w="1068490">
                  <a:moveTo>
                    <a:pt x="0" y="0"/>
                  </a:moveTo>
                  <a:lnTo>
                    <a:pt x="1068490" y="0"/>
                  </a:lnTo>
                  <a:lnTo>
                    <a:pt x="1068490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68490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06992" y="2132118"/>
            <a:ext cx="6206476" cy="6022764"/>
            <a:chOff x="0" y="0"/>
            <a:chExt cx="6350000" cy="616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0" y="43180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5486400" y="0"/>
                  </a:moveTo>
                  <a:lnTo>
                    <a:pt x="5486400" y="5298440"/>
                  </a:lnTo>
                  <a:lnTo>
                    <a:pt x="0" y="529844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solidFill>
              <a:srgbClr val="7FC97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431800" y="0"/>
                  </a:moveTo>
                  <a:lnTo>
                    <a:pt x="0" y="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blipFill>
              <a:blip r:embed="rId2"/>
              <a:stretch>
                <a:fillRect l="-51158" t="-12802" r="-505" b="-12509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5258547" y="-137207"/>
            <a:ext cx="834847" cy="3166660"/>
          </a:xfrm>
          <a:custGeom>
            <a:avLst/>
            <a:gdLst/>
            <a:ahLst/>
            <a:cxnLst/>
            <a:rect r="r" b="b" t="t" l="l"/>
            <a:pathLst>
              <a:path h="3166660" w="834847">
                <a:moveTo>
                  <a:pt x="0" y="0"/>
                </a:moveTo>
                <a:lnTo>
                  <a:pt x="834846" y="0"/>
                </a:lnTo>
                <a:lnTo>
                  <a:pt x="834846" y="3166660"/>
                </a:lnTo>
                <a:lnTo>
                  <a:pt x="0" y="3166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73443" y="2295699"/>
            <a:ext cx="9081080" cy="414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1"/>
              </a:lnSpc>
            </a:pPr>
            <a:r>
              <a:rPr lang="en-US" b="true" sz="5700" spc="-22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KNN - LA VECINDAD LOCAL DETECTA HITS MEJOR QUE CUALQUIER FRONTERA GLOBAL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73443" y="6852748"/>
            <a:ext cx="9862464" cy="223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352" indent="-255176" lvl="1">
              <a:lnSpc>
                <a:spcPts val="3569"/>
              </a:lnSpc>
              <a:buFont typeface="Arial"/>
              <a:buChar char="•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Random Forest: frontera global, ignora clusters locales. Baja en zonas minoritarias.</a:t>
            </a:r>
          </a:p>
          <a:p>
            <a:pPr algn="l" marL="510352" indent="-255176" lvl="1">
              <a:lnSpc>
                <a:spcPts val="3569"/>
              </a:lnSpc>
              <a:buFont typeface="Arial"/>
              <a:buChar char="•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KNN: busca vecinos cercanos. Detecta micro-clusters de hits.</a:t>
            </a:r>
          </a:p>
          <a:p>
            <a:pPr algn="l" marL="1020704" indent="-340235" lvl="2">
              <a:lnSpc>
                <a:spcPts val="3569"/>
              </a:lnSpc>
              <a:buFont typeface="Arial"/>
              <a:buChar char="⚬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KNN detecta </a:t>
            </a:r>
            <a:r>
              <a:rPr lang="en-US" b="true" sz="2363" spc="-9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1 de cada 5 hits</a:t>
            </a: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 reales (Recall = 0.20)</a:t>
            </a:r>
          </a:p>
          <a:p>
            <a:pPr algn="l" marL="1020704" indent="-340235" lvl="2">
              <a:lnSpc>
                <a:spcPts val="3569"/>
              </a:lnSpc>
              <a:buFont typeface="Arial"/>
              <a:buChar char="⚬"/>
            </a:pP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El resto detectan </a:t>
            </a:r>
            <a:r>
              <a:rPr lang="en-US" b="true" sz="2363" spc="-9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1 de cada 20</a:t>
            </a: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 (Recall = 0.05)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4339" y="853102"/>
            <a:ext cx="13538102" cy="190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2"/>
              </a:lnSpc>
            </a:pPr>
            <a:r>
              <a:rPr lang="en-US" b="true" sz="6400" spc="-24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¿QUE FACTORES EXPLICAN LA POPULARIDAD?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5400000">
            <a:off x="15217047" y="51493"/>
            <a:ext cx="1065046" cy="3019461"/>
          </a:xfrm>
          <a:custGeom>
            <a:avLst/>
            <a:gdLst/>
            <a:ahLst/>
            <a:cxnLst/>
            <a:rect r="r" b="b" t="t" l="l"/>
            <a:pathLst>
              <a:path h="3019461" w="1065046">
                <a:moveTo>
                  <a:pt x="1065046" y="3019460"/>
                </a:moveTo>
                <a:lnTo>
                  <a:pt x="0" y="3019460"/>
                </a:lnTo>
                <a:lnTo>
                  <a:pt x="0" y="0"/>
                </a:lnTo>
                <a:lnTo>
                  <a:pt x="1065046" y="0"/>
                </a:lnTo>
                <a:lnTo>
                  <a:pt x="1065046" y="30194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681192" y="-824694"/>
            <a:ext cx="22159865" cy="1226633"/>
            <a:chOff x="0" y="0"/>
            <a:chExt cx="6453464" cy="3572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935932" y="9873431"/>
            <a:ext cx="22159865" cy="1226633"/>
            <a:chOff x="0" y="0"/>
            <a:chExt cx="6453464" cy="3572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7870" y="2434693"/>
            <a:ext cx="9249956" cy="7948124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27910" y="2434693"/>
            <a:ext cx="9249956" cy="68894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81192" y="-824694"/>
            <a:ext cx="22159865" cy="1226633"/>
            <a:chOff x="0" y="0"/>
            <a:chExt cx="6453464" cy="3572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35932" y="9873431"/>
            <a:ext cx="22159865" cy="1226633"/>
            <a:chOff x="0" y="0"/>
            <a:chExt cx="6453464" cy="357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3464" cy="357224"/>
            </a:xfrm>
            <a:custGeom>
              <a:avLst/>
              <a:gdLst/>
              <a:ahLst/>
              <a:cxnLst/>
              <a:rect r="r" b="b" t="t" l="l"/>
              <a:pathLst>
                <a:path h="357224" w="6453464">
                  <a:moveTo>
                    <a:pt x="0" y="0"/>
                  </a:moveTo>
                  <a:lnTo>
                    <a:pt x="6453464" y="0"/>
                  </a:lnTo>
                  <a:lnTo>
                    <a:pt x="6453464" y="357224"/>
                  </a:lnTo>
                  <a:lnTo>
                    <a:pt x="0" y="3572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453464" cy="414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2944541"/>
            <a:ext cx="11226660" cy="6623729"/>
          </a:xfrm>
          <a:custGeom>
            <a:avLst/>
            <a:gdLst/>
            <a:ahLst/>
            <a:cxnLst/>
            <a:rect r="r" b="b" t="t" l="l"/>
            <a:pathLst>
              <a:path h="6623729" w="11226660">
                <a:moveTo>
                  <a:pt x="0" y="0"/>
                </a:moveTo>
                <a:lnTo>
                  <a:pt x="11226660" y="0"/>
                </a:lnTo>
                <a:lnTo>
                  <a:pt x="11226660" y="6623729"/>
                </a:lnTo>
                <a:lnTo>
                  <a:pt x="0" y="6623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7212" y="1028700"/>
            <a:ext cx="15513576" cy="161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4"/>
              </a:lnSpc>
            </a:pPr>
            <a:r>
              <a:rPr lang="en-US" b="true" sz="5464" spc="-213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RELACIONES NO LINEALES - POR QUE LOS MODELOS LINEALES FRACASAN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22816" y="3978838"/>
            <a:ext cx="5574953" cy="446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352" indent="-255176" lvl="1">
              <a:lnSpc>
                <a:spcPts val="3569"/>
              </a:lnSpc>
              <a:buFont typeface="Arial"/>
              <a:buChar char="•"/>
            </a:pPr>
            <a:r>
              <a:rPr lang="en-US" b="true" sz="2363" spc="-9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Instrumentalness</a:t>
            </a: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: cae brutalmente con valores &gt; 0.1</a:t>
            </a:r>
          </a:p>
          <a:p>
            <a:pPr algn="l" marL="510352" indent="-255176" lvl="1">
              <a:lnSpc>
                <a:spcPts val="3569"/>
              </a:lnSpc>
              <a:buFont typeface="Arial"/>
              <a:buChar char="•"/>
            </a:pPr>
            <a:r>
              <a:rPr lang="en-US" b="true" sz="2363" spc="-9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Duration_ms</a:t>
            </a: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: “sweet pot” en ~3-4 min</a:t>
            </a:r>
          </a:p>
          <a:p>
            <a:pPr algn="l" marL="510352" indent="-255176" lvl="1">
              <a:lnSpc>
                <a:spcPts val="3569"/>
              </a:lnSpc>
              <a:buFont typeface="Arial"/>
              <a:buChar char="•"/>
            </a:pPr>
            <a:r>
              <a:rPr lang="en-US" b="true" sz="2363" spc="-9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Acousticness</a:t>
            </a: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: relación en U - valores extremos bajan la popularidad</a:t>
            </a:r>
          </a:p>
          <a:p>
            <a:pPr algn="l" marL="510352" indent="-255176" lvl="1">
              <a:lnSpc>
                <a:spcPts val="3569"/>
              </a:lnSpc>
              <a:buFont typeface="Arial"/>
              <a:buChar char="•"/>
            </a:pPr>
            <a:r>
              <a:rPr lang="en-US" b="true" sz="2363" spc="-92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Danceability/energy</a:t>
            </a:r>
            <a:r>
              <a:rPr lang="en-US" sz="2363" spc="-92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: relación positiva con rendimientos decrecientes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630" y="-608167"/>
            <a:ext cx="10245332" cy="11503335"/>
            <a:chOff x="0" y="0"/>
            <a:chExt cx="2983677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3677" cy="3350036"/>
            </a:xfrm>
            <a:custGeom>
              <a:avLst/>
              <a:gdLst/>
              <a:ahLst/>
              <a:cxnLst/>
              <a:rect r="r" b="b" t="t" l="l"/>
              <a:pathLst>
                <a:path h="3350036" w="2983677">
                  <a:moveTo>
                    <a:pt x="0" y="0"/>
                  </a:moveTo>
                  <a:lnTo>
                    <a:pt x="2983677" y="0"/>
                  </a:lnTo>
                  <a:lnTo>
                    <a:pt x="2983677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983677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36859" y="92651"/>
            <a:ext cx="8275484" cy="4520483"/>
          </a:xfrm>
          <a:custGeom>
            <a:avLst/>
            <a:gdLst/>
            <a:ahLst/>
            <a:cxnLst/>
            <a:rect r="r" b="b" t="t" l="l"/>
            <a:pathLst>
              <a:path h="4520483" w="8275484">
                <a:moveTo>
                  <a:pt x="0" y="0"/>
                </a:moveTo>
                <a:lnTo>
                  <a:pt x="8275484" y="0"/>
                </a:lnTo>
                <a:lnTo>
                  <a:pt x="8275484" y="4520483"/>
                </a:lnTo>
                <a:lnTo>
                  <a:pt x="0" y="4520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93063" y="4081872"/>
            <a:ext cx="1188350" cy="1383814"/>
          </a:xfrm>
          <a:custGeom>
            <a:avLst/>
            <a:gdLst/>
            <a:ahLst/>
            <a:cxnLst/>
            <a:rect r="r" b="b" t="t" l="l"/>
            <a:pathLst>
              <a:path h="1383814" w="1188350">
                <a:moveTo>
                  <a:pt x="0" y="0"/>
                </a:moveTo>
                <a:lnTo>
                  <a:pt x="1188350" y="0"/>
                </a:lnTo>
                <a:lnTo>
                  <a:pt x="1188350" y="1383814"/>
                </a:lnTo>
                <a:lnTo>
                  <a:pt x="0" y="1383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27426" y="5218022"/>
            <a:ext cx="1274842" cy="1239846"/>
          </a:xfrm>
          <a:custGeom>
            <a:avLst/>
            <a:gdLst/>
            <a:ahLst/>
            <a:cxnLst/>
            <a:rect r="r" b="b" t="t" l="l"/>
            <a:pathLst>
              <a:path h="1239846" w="1274842">
                <a:moveTo>
                  <a:pt x="0" y="0"/>
                </a:moveTo>
                <a:lnTo>
                  <a:pt x="1274841" y="0"/>
                </a:lnTo>
                <a:lnTo>
                  <a:pt x="1274841" y="1239845"/>
                </a:lnTo>
                <a:lnTo>
                  <a:pt x="0" y="1239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02283" y="6457867"/>
            <a:ext cx="774879" cy="991927"/>
          </a:xfrm>
          <a:custGeom>
            <a:avLst/>
            <a:gdLst/>
            <a:ahLst/>
            <a:cxnLst/>
            <a:rect r="r" b="b" t="t" l="l"/>
            <a:pathLst>
              <a:path h="991927" w="774879">
                <a:moveTo>
                  <a:pt x="0" y="0"/>
                </a:moveTo>
                <a:lnTo>
                  <a:pt x="774879" y="0"/>
                </a:lnTo>
                <a:lnTo>
                  <a:pt x="774879" y="991927"/>
                </a:lnTo>
                <a:lnTo>
                  <a:pt x="0" y="991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22024" y="7269718"/>
            <a:ext cx="963059" cy="983770"/>
          </a:xfrm>
          <a:custGeom>
            <a:avLst/>
            <a:gdLst/>
            <a:ahLst/>
            <a:cxnLst/>
            <a:rect r="r" b="b" t="t" l="l"/>
            <a:pathLst>
              <a:path h="983770" w="963059">
                <a:moveTo>
                  <a:pt x="0" y="0"/>
                </a:moveTo>
                <a:lnTo>
                  <a:pt x="963059" y="0"/>
                </a:lnTo>
                <a:lnTo>
                  <a:pt x="963059" y="983770"/>
                </a:lnTo>
                <a:lnTo>
                  <a:pt x="0" y="9837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34471" y="7943913"/>
            <a:ext cx="893884" cy="1004812"/>
          </a:xfrm>
          <a:custGeom>
            <a:avLst/>
            <a:gdLst/>
            <a:ahLst/>
            <a:cxnLst/>
            <a:rect r="r" b="b" t="t" l="l"/>
            <a:pathLst>
              <a:path h="1004812" w="893884">
                <a:moveTo>
                  <a:pt x="0" y="0"/>
                </a:moveTo>
                <a:lnTo>
                  <a:pt x="893884" y="0"/>
                </a:lnTo>
                <a:lnTo>
                  <a:pt x="893884" y="1004812"/>
                </a:lnTo>
                <a:lnTo>
                  <a:pt x="0" y="10048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352892"/>
            <a:ext cx="7371306" cy="242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8"/>
              </a:lnSpc>
            </a:pPr>
            <a:r>
              <a:rPr lang="en-US" b="true" sz="5530" spc="-215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¿QUE NO PUEDE PREDECIR EL AUDIO SOLO?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761432"/>
            <a:ext cx="7056619" cy="157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363" spc="-92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La popularidad en Spotify es un fenómeno multifactorial donde el audio solo es una pieza del puzzle.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04487" y="4348538"/>
            <a:ext cx="7056619" cy="650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2963" spc="-11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Marketing y campañas del artista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6935" y="5412704"/>
            <a:ext cx="7056619" cy="650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2963" spc="-115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Número de seguidores / fama previa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82187" y="6547640"/>
            <a:ext cx="7056619" cy="56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4"/>
              </a:lnSpc>
            </a:pPr>
            <a:r>
              <a:rPr lang="en-US" sz="2563" spc="-99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Presencia en playlists editoriales de Spotify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78445" y="7387798"/>
            <a:ext cx="7056619" cy="56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4"/>
              </a:lnSpc>
            </a:pPr>
            <a:r>
              <a:rPr lang="en-US" sz="2563" spc="-99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Momento del lanzamiento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78445" y="8072513"/>
            <a:ext cx="7056619" cy="56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4"/>
              </a:lnSpc>
            </a:pPr>
            <a:r>
              <a:rPr lang="en-US" sz="2563" spc="-99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Viralidad en redes sociales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2686" y="0"/>
            <a:ext cx="10473813" cy="11503335"/>
            <a:chOff x="0" y="0"/>
            <a:chExt cx="3050216" cy="33500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0216" cy="3350036"/>
            </a:xfrm>
            <a:custGeom>
              <a:avLst/>
              <a:gdLst/>
              <a:ahLst/>
              <a:cxnLst/>
              <a:rect r="r" b="b" t="t" l="l"/>
              <a:pathLst>
                <a:path h="3350036" w="3050216">
                  <a:moveTo>
                    <a:pt x="0" y="0"/>
                  </a:moveTo>
                  <a:lnTo>
                    <a:pt x="3050216" y="0"/>
                  </a:lnTo>
                  <a:lnTo>
                    <a:pt x="3050216" y="3350036"/>
                  </a:lnTo>
                  <a:lnTo>
                    <a:pt x="0" y="335003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050216" cy="3407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488838" y="2132118"/>
            <a:ext cx="6206476" cy="6022764"/>
            <a:chOff x="0" y="0"/>
            <a:chExt cx="6350000" cy="616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0" y="43180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5486400" y="0"/>
                  </a:moveTo>
                  <a:lnTo>
                    <a:pt x="5486400" y="5298440"/>
                  </a:lnTo>
                  <a:lnTo>
                    <a:pt x="0" y="529844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solidFill>
              <a:srgbClr val="BDCAF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820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918200">
                  <a:moveTo>
                    <a:pt x="431800" y="0"/>
                  </a:moveTo>
                  <a:lnTo>
                    <a:pt x="0" y="0"/>
                  </a:lnTo>
                  <a:lnTo>
                    <a:pt x="0" y="5730240"/>
                  </a:lnTo>
                  <a:lnTo>
                    <a:pt x="5918200" y="5730240"/>
                  </a:lnTo>
                  <a:lnTo>
                    <a:pt x="5918200" y="0"/>
                  </a:lnTo>
                  <a:close/>
                </a:path>
              </a:pathLst>
            </a:custGeom>
            <a:blipFill>
              <a:blip r:embed="rId2"/>
              <a:stretch>
                <a:fillRect l="0" t="-1640" r="0" b="-164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05177" y="4561008"/>
            <a:ext cx="8077313" cy="99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1"/>
              </a:lnSpc>
            </a:pPr>
            <a:r>
              <a:rPr lang="en-US" b="true" sz="6630" spc="-258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CONCULSIONES</a:t>
            </a:r>
          </a:p>
        </p:txBody>
      </p:sp>
      <p:sp>
        <p:nvSpPr>
          <p:cNvPr name="TextBox 9" id="9"/>
          <p:cNvSpPr txBox="true"/>
          <p:nvPr/>
        </p:nvSpPr>
        <p:spPr>
          <a:xfrm rot="-281970">
            <a:off x="3639930" y="5122718"/>
            <a:ext cx="7232151" cy="112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6"/>
              </a:lnSpc>
            </a:pPr>
            <a:r>
              <a:rPr lang="en-US" sz="6519">
                <a:solidFill>
                  <a:srgbClr val="FFFFFF"/>
                </a:solidFill>
                <a:latin typeface="Holiday"/>
                <a:ea typeface="Holiday"/>
                <a:cs typeface="Holiday"/>
                <a:sym typeface="Holiday"/>
              </a:rPr>
              <a:t>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DAHGvUJLVDg</dc:identifier>
  <dcterms:modified xsi:type="dcterms:W3CDTF">2011-08-01T06:04:30Z</dcterms:modified>
  <cp:revision>1</cp:revision>
  <dc:title>presentación de proyecto</dc:title>
</cp:coreProperties>
</file>